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70" r:id="rId6"/>
    <p:sldId id="271" r:id="rId7"/>
    <p:sldId id="261" r:id="rId8"/>
    <p:sldId id="262" r:id="rId9"/>
    <p:sldId id="263" r:id="rId10"/>
    <p:sldId id="264" r:id="rId11"/>
    <p:sldId id="265" r:id="rId12"/>
    <p:sldId id="272" r:id="rId13"/>
    <p:sldId id="276" r:id="rId14"/>
    <p:sldId id="266" r:id="rId15"/>
    <p:sldId id="273" r:id="rId16"/>
    <p:sldId id="274" r:id="rId17"/>
    <p:sldId id="277" r:id="rId18"/>
    <p:sldId id="267" r:id="rId19"/>
    <p:sldId id="268" r:id="rId20"/>
    <p:sldId id="278" r:id="rId21"/>
    <p:sldId id="269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6C98115-EDAB-4A2B-BD6F-92E58A7CA8EA}" type="datetime"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10/4/26</a:t>
            </a:fld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                                 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DCF5FA8-7807-4A9D-9AF4-D2EFEB29F3C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53080F-0BC4-4049-B38A-1C8BAA47E1CC}" type="datetime"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10/4/26</a:t>
            </a:fld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                                 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A8F8AB-455B-4055-B29D-86741E05A07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6400800" cy="123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Major Project Presentation</a:t>
            </a:r>
            <a:endParaRPr lang="en-IN" sz="2400"/>
          </a:p>
          <a:p>
            <a:pPr indent="0" algn="ctr">
              <a:buNone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Semester VII</a:t>
            </a:r>
            <a:endParaRPr lang="en-IN" sz="2400"/>
          </a:p>
          <a:p>
            <a:pPr indent="0" algn="ctr">
              <a:buNone/>
            </a:pPr>
            <a:r>
              <a:rPr lang="en-US" sz="2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Internal Presentation Part - 1</a:t>
            </a:r>
            <a:endParaRPr lang="en-IN" sz="2000"/>
          </a:p>
        </p:txBody>
      </p:sp>
      <p:sp>
        <p:nvSpPr>
          <p:cNvPr id="30" name="TextBox 29"/>
          <p:cNvSpPr txBox="1"/>
          <p:nvPr/>
        </p:nvSpPr>
        <p:spPr>
          <a:xfrm>
            <a:off x="685800" y="1600200"/>
            <a:ext cx="7772400" cy="118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Vernacular Voice-to-SOP: Converting Spoken Factory Procedures in Indian Languages into Structured Visual SOPs</a:t>
            </a:r>
            <a:endParaRPr lang="en-IN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by</a:t>
            </a:r>
            <a:endParaRPr lang="en-IN" sz="1800"/>
          </a:p>
        </p:txBody>
      </p:sp>
      <p:sp>
        <p:nvSpPr>
          <p:cNvPr id="79" name="TextBox 78"/>
          <p:cNvSpPr txBox="1"/>
          <p:nvPr/>
        </p:nvSpPr>
        <p:spPr>
          <a:xfrm>
            <a:off x="457200" y="3383280"/>
            <a:ext cx="2377440" cy="82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Atharva Gadekar</a:t>
            </a:r>
            <a:endParaRPr lang="en-IN" sz="1800" dirty="0"/>
          </a:p>
          <a:p>
            <a:pPr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123A3017</a:t>
            </a:r>
            <a:endParaRPr lang="en-IN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3383280" y="3383280"/>
            <a:ext cx="2377440" cy="82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Varun Jain</a:t>
            </a:r>
            <a:endParaRPr lang="en-IN" sz="1800" dirty="0"/>
          </a:p>
          <a:p>
            <a:pPr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123A3022</a:t>
            </a:r>
            <a:endParaRPr lang="en-IN" sz="1400" dirty="0"/>
          </a:p>
        </p:txBody>
      </p:sp>
      <p:sp>
        <p:nvSpPr>
          <p:cNvPr id="132" name="TextBox 131"/>
          <p:cNvSpPr txBox="1"/>
          <p:nvPr/>
        </p:nvSpPr>
        <p:spPr>
          <a:xfrm>
            <a:off x="6309360" y="3383280"/>
            <a:ext cx="2377440" cy="82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Shreya Patil</a:t>
            </a:r>
            <a:endParaRPr lang="en-IN" sz="1800" dirty="0"/>
          </a:p>
          <a:p>
            <a:pPr indent="0" algn="ctr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123A30316</a:t>
            </a:r>
            <a:endParaRPr lang="en-IN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286000" y="4297680"/>
            <a:ext cx="4572000" cy="777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Under the guidance of</a:t>
            </a:r>
            <a:endParaRPr lang="en-IN" sz="1600" dirty="0"/>
          </a:p>
          <a:p>
            <a:pPr indent="0" algn="ctr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Ms.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Leena </a:t>
            </a:r>
            <a:r>
              <a:rPr lang="en-US" dirty="0" err="1">
                <a:solidFill>
                  <a:srgbClr val="000000"/>
                </a:solidFill>
                <a:latin typeface="Times New Roman"/>
              </a:rPr>
              <a:t>Ladge</a:t>
            </a:r>
            <a:endParaRPr lang="en-IN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1371600" y="5623560"/>
            <a:ext cx="6400800" cy="82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Department of Information Technology</a:t>
            </a:r>
            <a:endParaRPr lang="en-IN" sz="1600" dirty="0"/>
          </a:p>
          <a:p>
            <a:pPr indent="0" algn="ctr"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SIES Graduate School of Technology, Nerul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Introduction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2900" indent="-342900"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Factory SOPs in India are written in English, but a large share of shop-floor workers are more fluent in Hindi or Marathi.</a:t>
            </a:r>
            <a:endParaRPr lang="en-IN" sz="1800" dirty="0"/>
          </a:p>
          <a:p>
            <a:pPr marL="342900" indent="-342900"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Supervisors already explain procedures verbally - but speech is unordered, repeated and mixed with asides, so turning it into a written SOP is manual and slow.</a:t>
            </a:r>
            <a:endParaRPr lang="en-IN" sz="1800" dirty="0"/>
          </a:p>
          <a:p>
            <a:pPr marL="342900" indent="-342900"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worker at the machine is the first to notice a loose pedal, a missing sensor or a wrong step on the card - yet that knowledge rarely reaches anyone who can fix it.</a:t>
            </a:r>
            <a:endParaRPr lang="en-IN" sz="1800" dirty="0"/>
          </a:p>
          <a:p>
            <a:pPr marL="342900" indent="-342900"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Safe in India's CRUSHED2026 report: over two-thirds of the injured auto-sector workers it assisted lost a finger, mostly on power presses with faults a worker can see [11].</a:t>
            </a:r>
            <a:endParaRPr lang="en-IN" sz="1800" dirty="0"/>
          </a:p>
          <a:p>
            <a:pPr marL="342900" indent="-342900"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This project closes both gaps: supervisor speech → ordered, audio-narrated SOP cards, and worker speech → anonymous, triaged reports that reach a manager above the supervisor.</a:t>
            </a:r>
            <a:endParaRPr lang="en-IN" sz="18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2</a:t>
            </a:fld>
            <a:endParaRPr lang="en-I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Literature Survey</a:t>
            </a:r>
            <a:endParaRPr lang="en-IN" sz="4000"/>
          </a:p>
        </p:txBody>
      </p:sp>
      <p:graphicFrame>
        <p:nvGraphicFramePr>
          <p:cNvPr id="25" name="LitTable"/>
          <p:cNvGraphicFramePr/>
          <p:nvPr/>
        </p:nvGraphicFramePr>
        <p:xfrm>
          <a:off x="533520" y="1249680"/>
          <a:ext cx="8076960" cy="4876800"/>
        </p:xfrm>
        <a:graphic>
          <a:graphicData uri="http://schemas.openxmlformats.org/drawingml/2006/table">
            <a:tbl>
              <a:tblPr/>
              <a:tblGrid>
                <a:gridCol w="70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Sr. No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Title &amp; Publication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findings/Gap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K. S. Bhogale,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T. Javed,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M. M. Khapra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et al.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Vistaar: Diverse Benchmarks and Training Sets for Indian Language ASR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INTERSPEECH 2023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Fine-tunes Whisper into IndicWhisper on 10.7K hrs across 12 Indian languages; best WER on 39 of 59 benchmarks (avg 4.1 WER reduction).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output ends at a raw transcript - no step structuring, no safety tagging, and Marathi is averaged into a 12-language score.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Pattern Recognition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and Machine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Intelligence (PReMI)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proceedings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Whisper-Based Multilingual ASR for Indic Languages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Springer LNCS, PReMI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Benchmarks Whisper medium/turbo/large on 15 Indic languages using WER, CER and PER; Hindi and Tamil perform best, several low-resource languages fail.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a benchmarking study only - no application layer, and it proves per-language accuracy cannot be assumed from an aggregate score.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3</a:t>
            </a:fld>
            <a:endParaRPr lang="en-IN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Literature Survey (contd.)</a:t>
            </a:r>
            <a:endParaRPr lang="en-IN" sz="4000"/>
          </a:p>
        </p:txBody>
      </p:sp>
      <p:graphicFrame>
        <p:nvGraphicFramePr>
          <p:cNvPr id="25" name="LitTable"/>
          <p:cNvGraphicFramePr/>
          <p:nvPr/>
        </p:nvGraphicFramePr>
        <p:xfrm>
          <a:off x="533520" y="1249680"/>
          <a:ext cx="8076960" cy="4876800"/>
        </p:xfrm>
        <a:graphic>
          <a:graphicData uri="http://schemas.openxmlformats.org/drawingml/2006/table">
            <a:tbl>
              <a:tblPr/>
              <a:tblGrid>
                <a:gridCol w="70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Sr. No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Title &amp; Publication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findings/Gap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Preprints.org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manuscript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202503.2278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(2025)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Hindi-Marathi Code-Switched Speech Recognition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Preprints.org, 2025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Uses Q-Learning and Deep Q-Networks for dynamic language-switch detection, fine-tuning Whisper-small on Common Voice 13.0.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switch detection is the end goal in isolation - no downstream task consumes the transcript, so no usable artifact is produced.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D. Y.-B. Wang,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Z. Shen,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Z. Xu, H. Ding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et al.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SLOT: Structuring the Output of Large Language Models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arXiv:2505.04016, 2025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Adds a fine-tuned lightweight model as a post-processing layer to force schema-valid JSON, reaching 99.5% schema accuracy.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reliability costs a second trained model in the loop - too heavy for offline, low-cost deployment on factory hardware.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4</a:t>
            </a:fld>
            <a:endParaRPr lang="en-I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Literature Survey (contd.)</a:t>
            </a:r>
            <a:endParaRPr lang="en-IN" sz="4000"/>
          </a:p>
        </p:txBody>
      </p:sp>
      <p:graphicFrame>
        <p:nvGraphicFramePr>
          <p:cNvPr id="25" name="LitTable"/>
          <p:cNvGraphicFramePr/>
          <p:nvPr/>
        </p:nvGraphicFramePr>
        <p:xfrm>
          <a:off x="533520" y="1249680"/>
          <a:ext cx="8076960" cy="4876800"/>
        </p:xfrm>
        <a:graphic>
          <a:graphicData uri="http://schemas.openxmlformats.org/drawingml/2006/table">
            <a:tbl>
              <a:tblPr/>
              <a:tblGrid>
                <a:gridCol w="70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Sr. No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Title &amp; Publication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findings/Gap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F. Longo,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A. Padovano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Voice-enabled Assistants of the Operator 4.0 in the Social Smart Factory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Manufacturing Letters, Vol. 26, pp. 12-16, 2020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Cognitive Work Analysis framework for where voice assistants fit in factory operator workflows; flags noisy, multilingual floors as a core challenge.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conceptual and English-centric - a design framework, not a working system, with no regional-language support.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T. M. Probst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Organizational Safety Climate and Supervisor Safety Enforcement: Multilevel Explorations of the Causes of Accident Underreporting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Journal of Applied Psychology, Vol. 100, pp. 1899-1907, 2015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Survey of 1,238 employees in 33 organisations (hierarchical linear modelling): supervisor enforcement behaviour predicted how many accidents employees left unreported; the effect weakened under a positive safety climate.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explains why workers stay silent, but offers no reporting channel that bypasses the supervisor.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5</a:t>
            </a:fld>
            <a:endParaRPr lang="en-I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Literature Survey (contd.)</a:t>
            </a:r>
            <a:endParaRPr lang="en-IN" sz="4000"/>
          </a:p>
        </p:txBody>
      </p:sp>
      <p:graphicFrame>
        <p:nvGraphicFramePr>
          <p:cNvPr id="25" name="LitTable"/>
          <p:cNvGraphicFramePr/>
          <p:nvPr/>
        </p:nvGraphicFramePr>
        <p:xfrm>
          <a:off x="533520" y="1249680"/>
          <a:ext cx="8076960" cy="4876800"/>
        </p:xfrm>
        <a:graphic>
          <a:graphicData uri="http://schemas.openxmlformats.org/drawingml/2006/table">
            <a:tbl>
              <a:tblPr/>
              <a:tblGrid>
                <a:gridCol w="70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Sr. No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Title &amp; Publication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findings/Gap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J. R. Detert,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L. K. Treviño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Speaking Up to Higher-Ups: How Supervisors and Skip-Level Leaders Influence Employee Voice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Organization Science, Vol. 21, No. 1, pp. 249-270, 2010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Qualitative interview study: employees cited leaders two to five levels above them almost as often as their immediate boss when explaining why speaking up felt risky or futile.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an organisational study of literate employees - no channel for low-literacy workers and no mechanism that guarantees follow-up.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8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P. Mudliar,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J. Donner,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W. Thies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Emergent Practices Around CGNet Swara, a Voice Forum for Citizen Journalism in Rural India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Proc. ICTD 2012, ACM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Phone-based voice forum: callers record reports from any basic phone; 70,000+ calls and 1,100 published messages in its first 21 months, studied through 42 stakeholder interviews.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every message is reviewed by human moderators - no automatic transcription, classification or routing, and not built for workplace safety.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6</a:t>
            </a:fld>
            <a:endParaRPr lang="en-I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Literature Survey (contd.)</a:t>
            </a:r>
            <a:endParaRPr lang="en-IN" sz="4000"/>
          </a:p>
        </p:txBody>
      </p:sp>
      <p:graphicFrame>
        <p:nvGraphicFramePr>
          <p:cNvPr id="25" name="LitTable"/>
          <p:cNvGraphicFramePr/>
          <p:nvPr/>
        </p:nvGraphicFramePr>
        <p:xfrm>
          <a:off x="533520" y="1249680"/>
          <a:ext cx="8076960" cy="2017640"/>
        </p:xfrm>
        <a:graphic>
          <a:graphicData uri="http://schemas.openxmlformats.org/drawingml/2006/table">
            <a:tbl>
              <a:tblPr/>
              <a:tblGrid>
                <a:gridCol w="70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Sr. No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Title &amp; Publication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findings/Gap</a:t>
                      </a:r>
                      <a:endParaRPr lang="en-IN" sz="1600"/>
                    </a:p>
                  </a:txBody>
                  <a:tcPr marL="72000" marR="72000" marT="36000" marB="36000" anchor="ctr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</a:t>
                      </a:r>
                      <a:endParaRPr lang="en-IN" sz="14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A. J.-P. Tixier,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M. R. Hallowell,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B. Rajagopalan,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D. Bowman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Automated Content Analysis for Construction Safety: An NLP System to Extract Precursors and Outcomes from Unstructured Injury Reports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Automation in Construction, Vol. 62, pp. 45-56, 2016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NLP system scans unstructured injury reports for 101 attributes and outcomes with over 95% accuracy, replacing manual content analysis.</a:t>
                      </a:r>
                      <a:endParaRPr lang="en-IN" sz="130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Gap: works on English, written, after-the-fact injury reports; never checks a report against the SOP and takes no voice input.</a:t>
                      </a:r>
                      <a:endParaRPr lang="en-IN" sz="1300"/>
                    </a:p>
                  </a:txBody>
                  <a:tcPr marL="72000" marR="72000" marT="36000" marB="36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533520" y="3474720"/>
            <a:ext cx="8076960" cy="274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Research Gap Identified</a:t>
            </a:r>
            <a:endParaRPr lang="en-IN" sz="18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No reviewed work carries vernacular speech all the way to a usable, ordered SOP artifact; hazard detection from speech stays conceptual.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Voice channels for low-literacy users exist, but rely on human moderators - nothing triages a spoken report automatically.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Safety-text NLP never compares a report with the SOP, so it cannot tell a machine fault from a wrong card or a training gap.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Under-reporting research names the supervisor as the barrier, yet no system routes reports past the supervisor with anonymity and follow-up.</a:t>
            </a:r>
            <a:endParaRPr lang="en-IN" sz="15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7</a:t>
            </a:fld>
            <a:endParaRPr lang="en-I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Existing System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Manual SOP authoring - a supervisor writes procedures in English by hand; slow, and rarely updated after process changes.</a:t>
            </a:r>
            <a:endParaRPr lang="en-IN" sz="1700" dirty="0"/>
          </a:p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Generic cloud ASR (Google / Azure / AWS) - paid per minute, needs internet, and weak on accented Indic speech in noisy plants.</a:t>
            </a:r>
            <a:endParaRPr lang="en-IN" sz="1700" dirty="0"/>
          </a:p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Indic ASR research systems (IndicWhisper, Vistaar) - strong transcription, but stop at plain text with no structure.</a:t>
            </a:r>
            <a:endParaRPr lang="en-IN" sz="1700" dirty="0"/>
          </a:p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Worker complaints today - spoken to the supervisor, paper forms or suggestion boxes; unusable for workers who cannot write, and filtered by the person closest to the problem.</a:t>
            </a:r>
            <a:endParaRPr lang="en-IN" sz="1700" dirty="0"/>
          </a:p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Voice incident-reporting apps (including Hindi / Marathi) - built for literate safety officers filling forms, not for shop-floor workers.</a:t>
            </a:r>
            <a:endParaRPr lang="en-IN" sz="1700" dirty="0"/>
          </a:p>
          <a:p>
            <a:pPr marL="342900" indent="-342900">
              <a:spcBef>
                <a:spcPts val="9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Net result: no system produces audio-narrated vernacular SOPs, and none lets a non-literate worker report a problem safely and know it was heard.</a:t>
            </a:r>
            <a:endParaRPr lang="en-IN" sz="17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 dirty="0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 dirty="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8</a:t>
            </a:fld>
            <a:endParaRPr lang="en-I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Proposed System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Two connected features built on one shared speech pipeline (ASR → LLM → TTS).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1 - Voice-to-SOP: supervisor narrates in Hindi / Marathi → transcript → LLM orders steps and flags hazards → per-step audio → visual SOP cards.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2 - Worker Voice Feedback ("Bolo"): the worker holds one mic button on the card he is using and reports a problem or asks a question in his own words.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Each report is compared with that machine's SOP and triaged as a machine problem, an SOP (card) problem, or an understanding (training) problem.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Reports go to the line's manager above the supervisor - text only, no audio, no name - with an SLA and automatic escalation if ignored.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Repeated card complaints on one step auto-draft a correction; on manager approval the next SOP version is published.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worker gets a receipt and hears the outcome back in his own language.</a:t>
            </a:r>
            <a:endParaRPr lang="en-IN" sz="1600" dirty="0"/>
          </a:p>
          <a:p>
            <a:pPr marL="285750" indent="-285750">
              <a:spcBef>
                <a:spcPts val="6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same pipeline and org structure now also power three CRM modules - Employee, Workforce and HR management - authenticated through Supabase instead of the original one-off PIN login.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9</a:t>
            </a:fld>
            <a:endParaRPr lang="en-I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Problem Definition</a:t>
            </a:r>
            <a:endParaRPr lang="en-IN" sz="4000"/>
          </a:p>
        </p:txBody>
      </p:sp>
      <p:sp>
        <p:nvSpPr>
          <p:cNvPr id="50" name="TextBox 49"/>
          <p:cNvSpPr txBox="1"/>
          <p:nvPr/>
        </p:nvSpPr>
        <p:spPr>
          <a:xfrm>
            <a:off x="457200" y="1297704"/>
            <a:ext cx="8229600" cy="1310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Problem Statement</a:t>
            </a:r>
            <a:endParaRPr lang="en-IN" dirty="0"/>
          </a:p>
          <a:p>
            <a:pPr indent="0">
              <a:buNone/>
            </a:pPr>
            <a:endParaRPr lang="en-IN" sz="1600" i="1" dirty="0">
              <a:solidFill>
                <a:srgbClr val="000000"/>
              </a:solidFill>
              <a:latin typeface="Times New Roman"/>
            </a:endParaRPr>
          </a:p>
          <a:p>
            <a:pPr indent="0">
              <a:buNone/>
            </a:pPr>
            <a:r>
              <a:rPr lang="en-US" sz="1600" b="0" i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To design and implement a system that converts an unstructured spoken factory procedure in Hindi or Marathi into an ordered, safety-annotated visual SOP with per-step audio, and that lets non-literate workers report machine or SOP problems by voice - anonymously, triaged against the SOP, routed past the supervisor, and acknowledged in their own language.</a:t>
            </a:r>
            <a:endParaRPr lang="en-IN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57200" y="3025157"/>
            <a:ext cx="8229600" cy="229112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Objectives</a:t>
            </a:r>
            <a:endParaRPr lang="en-IN" sz="18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Achieve reliable Hindi and Marathi transcription of spontaneous, unscripted shop-floor speech.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Recover the true logical order of steps and automatically flag safety hazards.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Deliver the SOP as numbered visual cards with vernacular audio for low-literacy users.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Classify each worker report as a machine, SOP or understanding problem by comparing it with the SOP.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Protect worker identity - no stored audio, no name, no worker login.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Guarantee follow-up through skip-level routing, SLA escalation and a spoken reply to the worker.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10</a:t>
            </a:fld>
            <a:endParaRPr lang="en-IN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Methodology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spcBef>
                <a:spcPts val="8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1 - Voice-to-SOP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Stage 0 - Validation: benchmark candidate checkpoints against AI4Bharat's Kathbath and MUCS sets (WER/CER via jiwer) before wiring the pipeline.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Stage 1 - Transcription: a fine-tuned Whisper checkpoint per language (whisper-hindi-medium, whisper-small-marathi), lazy-loaded and cached; long audio is split on silence so no word is cut.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Stage 2 - Structuring: the transcript goes to an LLM through any OpenAI-compatible endpoint (Ollama locally, Groq when hosted) with a fixed system prompt; output is validated against a strict JSON schema with one automatic retry.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Stage 3 - Speech synthesis: edge-tts renders each step with an hi-IN or mr-IN neural voice; clips are cached on disk by content hash.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Stage 4 - Presentation: React + Vite + TypeScript cards with icons, sequence numbers, hazard styling and per-step playback, served by FastAPI.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11</a:t>
            </a:fld>
            <a:endParaRPr lang="en-I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Methodology (contd.)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spcBef>
                <a:spcPts val="8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2 - Worker Voice Feedback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Capture: the worker holds the mic button on the SOP card; worker routes need no login, so no identity is attached to a report.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Transcription: the same per-language Whisper ASR; audio is discarded after transcription - only the text is kept.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Triage: the LLM compares the transcript with the SOP for that machine and step and assigns a kind (machine / sop / understanding) and a severity.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Routing: the report goes to the manager of that line, not its supervisor; SLA of 24 h for high-severity machine faults, 72 h otherwise; overdue reports escalate one level.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Clustering and correction: open reports on the same machine, kind and step within 30 days are linked; 3 'sop' reports auto-draft a card edit that the manager approves into the next SOP version.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12</a:t>
            </a:fld>
            <a:endParaRPr lang="en-IN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Methodology (contd.)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3 - Plant CRM Modules: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Employee, Workforce and HR management, built on the same org structure (plants / lines) and authorization shapes (scope_sql, author_scope_sql, may_author_line) the first two features already established.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Employee management: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 plant-wide directory with departments, job titles and a direct-manager org chart; a worker can now be tracked by name for scheduling without ever being given a login.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Workforce management: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shift definitions, line-scoped shift assignments and attendance; clock-in/out is supervisor-operated and kiosk-style, since it is tied to one worker's identity by definition - unlike an anonymous problem report.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HR management: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self-service leave requests with balance tracking and manager approval, plus a minimal recruitment pipeline (job postings → candidates → applications) with resumes uploaded straight to cloud storage.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Directory writes, shift definitions and recruitment stay admin-gated; leave and shift-assignment data stay scoped to the lines a manager or supervisor actually runs - the same two-layer authorization as the original features.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13</a:t>
            </a:fld>
            <a:endParaRPr lang="en-I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System Architecture</a:t>
            </a:r>
            <a:endParaRPr lang="en-IN" sz="4000"/>
          </a:p>
        </p:txBody>
      </p:sp>
      <p:sp>
        <p:nvSpPr>
          <p:cNvPr id="60" name="box60"/>
          <p:cNvSpPr/>
          <p:nvPr/>
        </p:nvSpPr>
        <p:spPr>
          <a:xfrm>
            <a:off x="45720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Supervisor Audio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Mic recording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 file upload</a:t>
            </a:r>
            <a:endParaRPr lang="en-IN" sz="1100"/>
          </a:p>
        </p:txBody>
      </p:sp>
      <p:sp>
        <p:nvSpPr>
          <p:cNvPr id="61" name="box61"/>
          <p:cNvSpPr/>
          <p:nvPr/>
        </p:nvSpPr>
        <p:spPr>
          <a:xfrm>
            <a:off x="219456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1: ASR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Whisper (fine-tuned)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hi / mr</a:t>
            </a:r>
            <a:endParaRPr lang="en-IN" sz="1100"/>
          </a:p>
        </p:txBody>
      </p:sp>
      <p:sp>
        <p:nvSpPr>
          <p:cNvPr id="62" name="box62"/>
          <p:cNvSpPr/>
          <p:nvPr/>
        </p:nvSpPr>
        <p:spPr>
          <a:xfrm>
            <a:off x="393192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2: LLM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Order steps +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flag hazards</a:t>
            </a:r>
            <a:endParaRPr lang="en-IN" sz="1100"/>
          </a:p>
        </p:txBody>
      </p:sp>
      <p:sp>
        <p:nvSpPr>
          <p:cNvPr id="63" name="box63"/>
          <p:cNvSpPr/>
          <p:nvPr/>
        </p:nvSpPr>
        <p:spPr>
          <a:xfrm>
            <a:off x="566928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3: TTS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edge-tts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per-step audio</a:t>
            </a:r>
            <a:endParaRPr lang="en-IN" sz="1100"/>
          </a:p>
        </p:txBody>
      </p:sp>
      <p:sp>
        <p:nvSpPr>
          <p:cNvPr id="64" name="box64"/>
          <p:cNvSpPr/>
          <p:nvPr/>
        </p:nvSpPr>
        <p:spPr>
          <a:xfrm>
            <a:off x="740664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4: UI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Visual SOP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cards</a:t>
            </a:r>
            <a:endParaRPr lang="en-IN" sz="1100"/>
          </a:p>
        </p:txBody>
      </p:sp>
      <p:sp>
        <p:nvSpPr>
          <p:cNvPr id="70" name="arr70"/>
          <p:cNvSpPr/>
          <p:nvPr/>
        </p:nvSpPr>
        <p:spPr>
          <a:xfrm>
            <a:off x="206654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1" name="arr71"/>
          <p:cNvSpPr/>
          <p:nvPr/>
        </p:nvSpPr>
        <p:spPr>
          <a:xfrm>
            <a:off x="380390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2" name="arr72"/>
          <p:cNvSpPr/>
          <p:nvPr/>
        </p:nvSpPr>
        <p:spPr>
          <a:xfrm>
            <a:off x="554126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3" name="arr73"/>
          <p:cNvSpPr/>
          <p:nvPr/>
        </p:nvSpPr>
        <p:spPr>
          <a:xfrm>
            <a:off x="727862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80" name="lbl80"/>
          <p:cNvSpPr txBox="1"/>
          <p:nvPr/>
        </p:nvSpPr>
        <p:spPr>
          <a:xfrm>
            <a:off x="45720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raw audio</a:t>
            </a:r>
            <a:endParaRPr lang="en-IN" sz="1000"/>
          </a:p>
        </p:txBody>
      </p:sp>
      <p:sp>
        <p:nvSpPr>
          <p:cNvPr id="81" name="lbl81"/>
          <p:cNvSpPr txBox="1"/>
          <p:nvPr/>
        </p:nvSpPr>
        <p:spPr>
          <a:xfrm>
            <a:off x="219456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transcript (text)</a:t>
            </a:r>
            <a:endParaRPr lang="en-IN" sz="1000"/>
          </a:p>
        </p:txBody>
      </p:sp>
      <p:sp>
        <p:nvSpPr>
          <p:cNvPr id="82" name="lbl82"/>
          <p:cNvSpPr txBox="1"/>
          <p:nvPr/>
        </p:nvSpPr>
        <p:spPr>
          <a:xfrm>
            <a:off x="393192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steps JSON</a:t>
            </a:r>
            <a:endParaRPr lang="en-IN" sz="1000"/>
          </a:p>
        </p:txBody>
      </p:sp>
      <p:sp>
        <p:nvSpPr>
          <p:cNvPr id="83" name="lbl83"/>
          <p:cNvSpPr txBox="1"/>
          <p:nvPr/>
        </p:nvSpPr>
        <p:spPr>
          <a:xfrm>
            <a:off x="566928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audio clips</a:t>
            </a:r>
            <a:endParaRPr lang="en-IN" sz="1000"/>
          </a:p>
        </p:txBody>
      </p:sp>
      <p:sp>
        <p:nvSpPr>
          <p:cNvPr id="90" name="TextBox 89"/>
          <p:cNvSpPr txBox="1"/>
          <p:nvPr/>
        </p:nvSpPr>
        <p:spPr>
          <a:xfrm>
            <a:off x="457200" y="3291840"/>
            <a:ext cx="8229600" cy="2834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Data flow</a:t>
            </a:r>
            <a:endParaRPr lang="en-IN" sz="15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Backend: FastAPI with separate ASR, structuring and TTS modules (asr.py, structuring.py, tts.py), each independently testable.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ASR runs on local CPU/GPU; the LLM is any OpenAI-compatible endpoint (Ollama offline, Groq when hosted); edge-tts is the free voice service.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Output contract: { step_number, text, is_safety_warning, icon } per step; every approved edit is saved as a new SOP version.</a:t>
            </a:r>
            <a:endParaRPr lang="en-IN" sz="14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14</a:t>
            </a:fld>
            <a:endParaRPr lang="en-IN" sz="1200"/>
          </a:p>
        </p:txBody>
      </p:sp>
      <p:sp>
        <p:nvSpPr>
          <p:cNvPr id="501" name="FeatureHeading"/>
          <p:cNvSpPr txBox="1"/>
          <p:nvPr/>
        </p:nvSpPr>
        <p:spPr>
          <a:xfrm>
            <a:off x="457200" y="1161288"/>
            <a:ext cx="8229600" cy="33832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1 - Voice-to-SOP (supervisor → worker)</a:t>
            </a:r>
            <a:endParaRPr lang="en-IN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System Architecture (contd.)</a:t>
            </a:r>
            <a:endParaRPr lang="en-IN" sz="4000"/>
          </a:p>
        </p:txBody>
      </p:sp>
      <p:sp>
        <p:nvSpPr>
          <p:cNvPr id="60" name="box60"/>
          <p:cNvSpPr/>
          <p:nvPr/>
        </p:nvSpPr>
        <p:spPr>
          <a:xfrm>
            <a:off x="45720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Worker Voice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Holds mic on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SOP card</a:t>
            </a:r>
            <a:endParaRPr lang="en-IN" sz="1100"/>
          </a:p>
        </p:txBody>
      </p:sp>
      <p:sp>
        <p:nvSpPr>
          <p:cNvPr id="61" name="box61"/>
          <p:cNvSpPr/>
          <p:nvPr/>
        </p:nvSpPr>
        <p:spPr>
          <a:xfrm>
            <a:off x="219456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1: ASR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Whisper hi / mr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audio discarded</a:t>
            </a:r>
            <a:endParaRPr lang="en-IN" sz="1100"/>
          </a:p>
        </p:txBody>
      </p:sp>
      <p:sp>
        <p:nvSpPr>
          <p:cNvPr id="62" name="box62"/>
          <p:cNvSpPr/>
          <p:nvPr/>
        </p:nvSpPr>
        <p:spPr>
          <a:xfrm>
            <a:off x="393192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2: Triage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LLM vs SOP step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kind + severity</a:t>
            </a:r>
            <a:endParaRPr lang="en-IN" sz="1100"/>
          </a:p>
        </p:txBody>
      </p:sp>
      <p:sp>
        <p:nvSpPr>
          <p:cNvPr id="63" name="box63"/>
          <p:cNvSpPr/>
          <p:nvPr/>
        </p:nvSpPr>
        <p:spPr>
          <a:xfrm>
            <a:off x="566928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3: Routing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Line manager,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SLA + clustering</a:t>
            </a:r>
            <a:endParaRPr lang="en-IN" sz="1100"/>
          </a:p>
        </p:txBody>
      </p:sp>
      <p:sp>
        <p:nvSpPr>
          <p:cNvPr id="64" name="box64"/>
          <p:cNvSpPr/>
          <p:nvPr/>
        </p:nvSpPr>
        <p:spPr>
          <a:xfrm>
            <a:off x="740664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Manager Inbox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Act on report /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approve card fix</a:t>
            </a:r>
            <a:endParaRPr lang="en-IN" sz="1100"/>
          </a:p>
        </p:txBody>
      </p:sp>
      <p:sp>
        <p:nvSpPr>
          <p:cNvPr id="70" name="arr70"/>
          <p:cNvSpPr/>
          <p:nvPr/>
        </p:nvSpPr>
        <p:spPr>
          <a:xfrm>
            <a:off x="206654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1" name="arr71"/>
          <p:cNvSpPr/>
          <p:nvPr/>
        </p:nvSpPr>
        <p:spPr>
          <a:xfrm>
            <a:off x="380390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2" name="arr72"/>
          <p:cNvSpPr/>
          <p:nvPr/>
        </p:nvSpPr>
        <p:spPr>
          <a:xfrm>
            <a:off x="554126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3" name="arr73"/>
          <p:cNvSpPr/>
          <p:nvPr/>
        </p:nvSpPr>
        <p:spPr>
          <a:xfrm>
            <a:off x="727862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80" name="lbl80"/>
          <p:cNvSpPr txBox="1"/>
          <p:nvPr/>
        </p:nvSpPr>
        <p:spPr>
          <a:xfrm>
            <a:off x="45720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raw audio (not stored)</a:t>
            </a:r>
            <a:endParaRPr lang="en-IN" sz="1000"/>
          </a:p>
        </p:txBody>
      </p:sp>
      <p:sp>
        <p:nvSpPr>
          <p:cNvPr id="81" name="lbl81"/>
          <p:cNvSpPr txBox="1"/>
          <p:nvPr/>
        </p:nvSpPr>
        <p:spPr>
          <a:xfrm>
            <a:off x="219456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transcript (text)</a:t>
            </a:r>
            <a:endParaRPr lang="en-IN" sz="1000"/>
          </a:p>
        </p:txBody>
      </p:sp>
      <p:sp>
        <p:nvSpPr>
          <p:cNvPr id="82" name="lbl82"/>
          <p:cNvSpPr txBox="1"/>
          <p:nvPr/>
        </p:nvSpPr>
        <p:spPr>
          <a:xfrm>
            <a:off x="393192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kind, severity, step</a:t>
            </a:r>
            <a:endParaRPr lang="en-IN" sz="1000"/>
          </a:p>
        </p:txBody>
      </p:sp>
      <p:sp>
        <p:nvSpPr>
          <p:cNvPr id="83" name="lbl83"/>
          <p:cNvSpPr txBox="1"/>
          <p:nvPr/>
        </p:nvSpPr>
        <p:spPr>
          <a:xfrm>
            <a:off x="566928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routed report + SLA</a:t>
            </a:r>
            <a:endParaRPr lang="en-IN" sz="1000"/>
          </a:p>
        </p:txBody>
      </p:sp>
      <p:sp>
        <p:nvSpPr>
          <p:cNvPr id="90" name="TextBox 89"/>
          <p:cNvSpPr txBox="1"/>
          <p:nvPr/>
        </p:nvSpPr>
        <p:spPr>
          <a:xfrm>
            <a:off x="457200" y="3291840"/>
            <a:ext cx="8229600" cy="2834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Data flow</a:t>
            </a:r>
            <a:endParaRPr lang="en-IN" sz="15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SLA: 24 h for a high-severity machine fault, 72 h otherwise; a report not acted on in time escalates one level higher automatically.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Clustering: 3 'sop' reports on one step within 30 days → auto-drafted card correction → manager approval → next SOP version.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Privacy: worker routes (/api/report, /api/ask, /api/receipt) need no login; only the triaged text with machine and step is stored.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Access: staff sign in with ID + PIN (scrypt-hashed, HMAC-signed token); a manager sees only the lines he runs.</a:t>
            </a:r>
            <a:endParaRPr lang="en-IN" sz="14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15</a:t>
            </a:fld>
            <a:endParaRPr lang="en-IN" sz="1200"/>
          </a:p>
        </p:txBody>
      </p:sp>
      <p:sp>
        <p:nvSpPr>
          <p:cNvPr id="502" name="FeatureHeading"/>
          <p:cNvSpPr txBox="1"/>
          <p:nvPr/>
        </p:nvSpPr>
        <p:spPr>
          <a:xfrm>
            <a:off x="457200" y="1161288"/>
            <a:ext cx="8229600" cy="33832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Feature 2 - Worker Voice Feedback (worker → manager)</a:t>
            </a:r>
            <a:endParaRPr lang="en-IN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System Architecture (contd.)</a:t>
            </a:r>
            <a:endParaRPr lang="en-IN" sz="4000"/>
          </a:p>
        </p:txBody>
      </p:sp>
      <p:sp>
        <p:nvSpPr>
          <p:cNvPr id="60" name="box60"/>
          <p:cNvSpPr/>
          <p:nvPr/>
        </p:nvSpPr>
        <p:spPr>
          <a:xfrm>
            <a:off x="45720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Supervisor Audio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Mic recording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 file upload</a:t>
            </a:r>
            <a:endParaRPr lang="en-IN" sz="1100"/>
          </a:p>
        </p:txBody>
      </p:sp>
      <p:sp>
        <p:nvSpPr>
          <p:cNvPr id="61" name="box61"/>
          <p:cNvSpPr/>
          <p:nvPr/>
        </p:nvSpPr>
        <p:spPr>
          <a:xfrm>
            <a:off x="219456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1: ASR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Whisper (fine-tuned)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hi / mr</a:t>
            </a:r>
            <a:endParaRPr lang="en-IN" sz="1100"/>
          </a:p>
        </p:txBody>
      </p:sp>
      <p:sp>
        <p:nvSpPr>
          <p:cNvPr id="62" name="box62"/>
          <p:cNvSpPr/>
          <p:nvPr/>
        </p:nvSpPr>
        <p:spPr>
          <a:xfrm>
            <a:off x="393192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2: LLM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Order steps +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flag hazards</a:t>
            </a:r>
            <a:endParaRPr lang="en-IN" sz="1100"/>
          </a:p>
        </p:txBody>
      </p:sp>
      <p:sp>
        <p:nvSpPr>
          <p:cNvPr id="63" name="box63"/>
          <p:cNvSpPr/>
          <p:nvPr/>
        </p:nvSpPr>
        <p:spPr>
          <a:xfrm>
            <a:off x="566928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3: TTS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edge-tts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per-step audio</a:t>
            </a:r>
            <a:endParaRPr lang="en-IN" sz="1100"/>
          </a:p>
        </p:txBody>
      </p:sp>
      <p:sp>
        <p:nvSpPr>
          <p:cNvPr id="64" name="box64"/>
          <p:cNvSpPr/>
          <p:nvPr/>
        </p:nvSpPr>
        <p:spPr>
          <a:xfrm>
            <a:off x="7406640" y="15544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4: UI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Visual SOP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cards</a:t>
            </a:r>
            <a:endParaRPr lang="en-IN" sz="1100"/>
          </a:p>
        </p:txBody>
      </p:sp>
      <p:sp>
        <p:nvSpPr>
          <p:cNvPr id="70" name="arr70"/>
          <p:cNvSpPr/>
          <p:nvPr/>
        </p:nvSpPr>
        <p:spPr>
          <a:xfrm>
            <a:off x="206654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1" name="arr71"/>
          <p:cNvSpPr/>
          <p:nvPr/>
        </p:nvSpPr>
        <p:spPr>
          <a:xfrm>
            <a:off x="380390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2" name="arr72"/>
          <p:cNvSpPr/>
          <p:nvPr/>
        </p:nvSpPr>
        <p:spPr>
          <a:xfrm>
            <a:off x="554126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73" name="arr73"/>
          <p:cNvSpPr/>
          <p:nvPr/>
        </p:nvSpPr>
        <p:spPr>
          <a:xfrm>
            <a:off x="7278624" y="201168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90" name="TextBox 89"/>
          <p:cNvSpPr txBox="1"/>
          <p:nvPr/>
        </p:nvSpPr>
        <p:spPr>
          <a:xfrm>
            <a:off x="457200" y="4434840"/>
            <a:ext cx="8229600" cy="187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How the two features connect</a:t>
            </a:r>
            <a:endParaRPr lang="en-IN" sz="15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One shared speech stack: the same per-language Whisper ASR and edge-tts voices serve both the supervisor and the worker.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card is the bridge: a worker reports from the exact card and step he is using, so every report is tied to a machine, a step and an SOP version.</a:t>
            </a:r>
            <a:endParaRPr lang="en-IN" sz="1400" dirty="0"/>
          </a:p>
          <a:p>
            <a:pPr marL="285750" indent="-285750"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loop closes both ways: an approved fix republishes the card, and the worker hears the outcome in his own language.</a:t>
            </a:r>
            <a:endParaRPr lang="en-IN" sz="14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16</a:t>
            </a:fld>
            <a:endParaRPr lang="en-IN" sz="1200"/>
          </a:p>
        </p:txBody>
      </p:sp>
      <p:sp>
        <p:nvSpPr>
          <p:cNvPr id="503" name="FeatureHeading"/>
          <p:cNvSpPr txBox="1"/>
          <p:nvPr/>
        </p:nvSpPr>
        <p:spPr>
          <a:xfrm>
            <a:off x="457200" y="1161288"/>
            <a:ext cx="8229600" cy="33832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5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Closed loop: Feature 1 (top) publishes the cards, Feature 2 (bottom) improves them</a:t>
            </a:r>
            <a:endParaRPr lang="en-IN" sz="1500" dirty="0"/>
          </a:p>
        </p:txBody>
      </p:sp>
      <p:sp>
        <p:nvSpPr>
          <p:cNvPr id="504" name="box60_f2"/>
          <p:cNvSpPr/>
          <p:nvPr/>
        </p:nvSpPr>
        <p:spPr>
          <a:xfrm>
            <a:off x="457200" y="324612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Worker Voice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Holds mic on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SOP card</a:t>
            </a:r>
            <a:endParaRPr lang="en-IN" sz="1100"/>
          </a:p>
        </p:txBody>
      </p:sp>
      <p:sp>
        <p:nvSpPr>
          <p:cNvPr id="505" name="box61_f2"/>
          <p:cNvSpPr/>
          <p:nvPr/>
        </p:nvSpPr>
        <p:spPr>
          <a:xfrm>
            <a:off x="2194560" y="324612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1: ASR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Whisper hi / mr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audio discarded</a:t>
            </a:r>
            <a:endParaRPr lang="en-IN" sz="1100"/>
          </a:p>
        </p:txBody>
      </p:sp>
      <p:sp>
        <p:nvSpPr>
          <p:cNvPr id="506" name="box62_f2"/>
          <p:cNvSpPr/>
          <p:nvPr/>
        </p:nvSpPr>
        <p:spPr>
          <a:xfrm>
            <a:off x="3931920" y="324612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2: Triage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LLM vs SOP step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kind + severity</a:t>
            </a:r>
            <a:endParaRPr lang="en-IN" sz="1100"/>
          </a:p>
        </p:txBody>
      </p:sp>
      <p:sp>
        <p:nvSpPr>
          <p:cNvPr id="507" name="box63_f2"/>
          <p:cNvSpPr/>
          <p:nvPr/>
        </p:nvSpPr>
        <p:spPr>
          <a:xfrm>
            <a:off x="5669280" y="324612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D0D8E8"/>
          </a:solidFill>
          <a:ln w="12700">
            <a:solidFill>
              <a:srgbClr val="4F81BD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Stage 3: Routing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Line manager,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SLA + clustering</a:t>
            </a:r>
            <a:endParaRPr lang="en-IN" sz="1100"/>
          </a:p>
        </p:txBody>
      </p:sp>
      <p:sp>
        <p:nvSpPr>
          <p:cNvPr id="508" name="box64_f2"/>
          <p:cNvSpPr/>
          <p:nvPr/>
        </p:nvSpPr>
        <p:spPr>
          <a:xfrm>
            <a:off x="7406640" y="324612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E9EDF4"/>
          </a:solidFill>
          <a:ln w="12700">
            <a:solidFill>
              <a:srgbClr val="8A97A8"/>
            </a:solidFill>
          </a:ln>
        </p:spPr>
        <p:txBody>
          <a:bodyPr lIns="45720" tIns="27432" rIns="45720" bIns="27432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Manager Inbox</a:t>
            </a:r>
            <a:endParaRPr lang="en-IN" sz="12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Act on report /</a:t>
            </a:r>
            <a:endParaRPr lang="en-IN" sz="1100"/>
          </a:p>
          <a:p>
            <a:pPr algn="ctr">
              <a:lnSpc>
                <a:spcPct val="100000"/>
              </a:lnSpc>
              <a:buNone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approve card fix</a:t>
            </a:r>
            <a:endParaRPr lang="en-IN" sz="1100"/>
          </a:p>
        </p:txBody>
      </p:sp>
      <p:sp>
        <p:nvSpPr>
          <p:cNvPr id="509" name="arr70_f2"/>
          <p:cNvSpPr/>
          <p:nvPr/>
        </p:nvSpPr>
        <p:spPr>
          <a:xfrm>
            <a:off x="2066544" y="370332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510" name="arr71_f2"/>
          <p:cNvSpPr/>
          <p:nvPr/>
        </p:nvSpPr>
        <p:spPr>
          <a:xfrm>
            <a:off x="3803904" y="370332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511" name="arr72_f2"/>
          <p:cNvSpPr/>
          <p:nvPr/>
        </p:nvSpPr>
        <p:spPr>
          <a:xfrm>
            <a:off x="5541264" y="370332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512" name="arr73_f2"/>
          <p:cNvSpPr/>
          <p:nvPr/>
        </p:nvSpPr>
        <p:spPr>
          <a:xfrm>
            <a:off x="7278624" y="3703320"/>
            <a:ext cx="118872" cy="91440"/>
          </a:xfrm>
          <a:prstGeom prst="right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513" name="arrUp"/>
          <p:cNvSpPr/>
          <p:nvPr/>
        </p:nvSpPr>
        <p:spPr>
          <a:xfrm>
            <a:off x="8115300" y="2651760"/>
            <a:ext cx="182880" cy="502920"/>
          </a:xfrm>
          <a:prstGeom prst="upArrow">
            <a:avLst/>
          </a:prstGeom>
          <a:solidFill>
            <a:srgbClr val="8A97A8"/>
          </a:solidFill>
          <a:ln w="0">
            <a:noFill/>
          </a:ln>
        </p:spPr>
        <p:txBody>
          <a:bodyPr/>
          <a:lstStyle/>
          <a:p>
            <a:pPr>
              <a:buNone/>
            </a:pPr>
            <a:endParaRPr lang="en-IN" sz="900"/>
          </a:p>
        </p:txBody>
      </p:sp>
      <p:sp>
        <p:nvSpPr>
          <p:cNvPr id="514" name="lblUp"/>
          <p:cNvSpPr txBox="1"/>
          <p:nvPr/>
        </p:nvSpPr>
        <p:spPr>
          <a:xfrm>
            <a:off x="5669280" y="2788920"/>
            <a:ext cx="2377440" cy="27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</a:pPr>
            <a:r>
              <a:rPr lang="en-US" sz="10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approved fix → next SOP version</a:t>
            </a:r>
            <a:endParaRPr lang="en-IN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System Architecture (contd.)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Backend migration: SQLite and a hand-rolled PIN + HMAC login → Supabase Postgres, Supabase Auth and Row Level Security.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Database: accessed via SQLAlchemy Core (raw SQL, named binds, no ORM); every table, view and RLS policy is hand-written Postgres DDL in an Alembic migration, applied explicitly - nothing is auto-created on boot.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Staff sign-in: Supabase Auth (email + password); the backend verifies each request's JWT locally against Supabase's public key set, so a role change applies immediately with no re-login.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Worker anonymity preserved: the worker-facing routes still need no account; they run on a separate, RLS-bypassing service connection so the rate limiter and triage pipeline stay the only path into the database.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Authorization in depth: the same scope checks run in the application layer and are enforced again by Postgres Row Level Security on every staff-touched table.</a:t>
            </a:r>
            <a:endParaRPr lang="en-IN" sz="1600" dirty="0"/>
          </a:p>
          <a:p>
            <a:pPr marL="285750" indent="-28575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Unified dashboard: every staff role now lands on one role-filtered sidebar (Dashboard / SOP cards / Inbox / Employees / Workforce / HR) with KPI tiles and charts, replacing a separate screen per module.</a:t>
            </a:r>
            <a:endParaRPr lang="en-IN" sz="16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17</a:t>
            </a:fld>
            <a:endParaRPr lang="en-IN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Applications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18872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Digitising machine operating procedures on manufacturing shop floors without a technical writer.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Onboarding and training new or migrant workers in the language they actually speak.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Anonymous hazard and near-miss reporting for non-literate workers - catching worn pedals, missing guards and wrong cards before an injury.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Continuous SOP improvement: confirmed worker reports become reviewed card corrections.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Safety compliance and audit - hazard steps, report SLAs and escalations are logged per line and machine.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Training-needs analysis from 'understanding' reports, which point to steps workers find confusing.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Transferable to agriculture advisories, healthcare protocols and rural skill training with only a vocabulary change.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Plant-wide employee directory, shift scheduling and supervisor-run clock-in/out, replacing paper registers and verbal rosters.</a:t>
            </a:r>
            <a:endParaRPr lang="en-IN" sz="1700" dirty="0"/>
          </a:p>
          <a:p>
            <a:pPr marL="342900" indent="-342900">
              <a:spcBef>
                <a:spcPts val="9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0" i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Self-service leave requests and a lightweight recruitment pipeline, under the same login a supervisor or manager already has.</a:t>
            </a:r>
            <a:endParaRPr lang="en-IN" sz="17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18</a:t>
            </a:fld>
            <a:endParaRPr lang="en-IN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Conclusion</a:t>
            </a:r>
            <a:endParaRPr lang="en-IN" sz="4000"/>
          </a:p>
        </p:txBody>
      </p:sp>
      <p:sp>
        <p:nvSpPr>
          <p:cNvPr id="95" name="TextBox 94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 Completed</a:t>
            </a:r>
            <a:endParaRPr lang="en-IN" sz="18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Voice-to-SOP is implemented end to end: Hindi / Marathi transcription, LLM structuring into ordered steps with safety flags, and per-step vernacular audio on visual cards.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Worker Voice Feedback is implemented: hold-to-talk reports, SOP-aware triage, skip-level routing with SLA escalation, clustering and auto-drafted card corrections.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Worker identity is protected by design - no stored audio and no worker account; staff access is scoped to their own lines and enforced again by Postgres Row Level Security.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Both features ship as one FastAPI + React app in a single Docker image, with Alembic migrations, a pytest suite, structured logs and Prometheus metrics.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Migrated the backend from SQLite and PIN login to Supabase Postgres, Supabase Auth and Row Level Security, with every schema change as a hand-written Alembic migration.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Added three CRM modules - Employee, Workforce and HR management - that reuse the original org structure and authorization model end to end.</a:t>
            </a:r>
            <a:endParaRPr lang="en-IN" sz="15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Replaced the per-page navigation with one role-filtered sidebar and a KPI/chart dashboard, redesigned for legibility across every staff role.</a:t>
            </a:r>
            <a:endParaRPr lang="en-IN" sz="1500" dirty="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19</a:t>
            </a:fld>
            <a:endParaRPr lang="en-IN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E759-1758-604B-A664-D2E34EF7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>
            <a:extLst>
              <a:ext uri="{FF2B5EF4-FFF2-40B4-BE49-F238E27FC236}">
                <a16:creationId xmlns:a16="http://schemas.microsoft.com/office/drawing/2014/main" id="{FDD4893B-994B-1BFE-2B0A-6C2B68FD0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Future Work</a:t>
            </a:r>
            <a:endParaRPr lang="en-IN" sz="4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D210C3-4029-0891-A0D6-D5AC2ABC8FD3}"/>
              </a:ext>
            </a:extLst>
          </p:cNvPr>
          <p:cNvSpPr txBox="1"/>
          <p:nvPr/>
        </p:nvSpPr>
        <p:spPr>
          <a:xfrm>
            <a:off x="228600" y="1325879"/>
            <a:ext cx="8229600" cy="253373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Future Work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Add a phone-call (IVR) channel so workers with basic phones can report without the app.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Validate Marathi and code-mixed Hindi-Marathi-English ASR on real factory recordings.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Pilot in a plant to measure reporting rates, response times and anonymity in small lines.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Move to a shared rate-limit store (Redis) so the limiter holds across multiple worker processes - the database itself is already on Postgres via Supabase.</a:t>
            </a:r>
            <a:endParaRPr lang="en-IN" sz="1600" dirty="0"/>
          </a:p>
          <a:p>
            <a:pPr marL="285750" indent="-285750"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Extend the HR module to payroll, which the schema (employees, attendance, leave_balances) already leaves room for.</a:t>
            </a:r>
            <a:endParaRPr lang="en-IN" sz="1600" dirty="0"/>
          </a:p>
        </p:txBody>
      </p:sp>
      <p:pic>
        <p:nvPicPr>
          <p:cNvPr id="23" name="Picture 7" descr="SIES GST logo">
            <a:extLst>
              <a:ext uri="{FF2B5EF4-FFF2-40B4-BE49-F238E27FC236}">
                <a16:creationId xmlns:a16="http://schemas.microsoft.com/office/drawing/2014/main" id="{E82B45DC-C65D-C940-B4DC-2DB27986CB3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>
            <a:extLst>
              <a:ext uri="{FF2B5EF4-FFF2-40B4-BE49-F238E27FC236}">
                <a16:creationId xmlns:a16="http://schemas.microsoft.com/office/drawing/2014/main" id="{E54F8F16-6F37-7DC2-BEF3-D09C2401F492}"/>
              </a:ext>
            </a:extLst>
          </p:cNvPr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2" name="Footer 22">
            <a:extLst>
              <a:ext uri="{FF2B5EF4-FFF2-40B4-BE49-F238E27FC236}">
                <a16:creationId xmlns:a16="http://schemas.microsoft.com/office/drawing/2014/main" id="{61967C73-18F6-D75C-41D8-D2697201E3C1}"/>
              </a:ext>
            </a:extLst>
          </p:cNvPr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Date of Presentation</a:t>
            </a:r>
            <a:endParaRPr lang="en-IN" sz="1200"/>
          </a:p>
        </p:txBody>
      </p:sp>
      <p:sp>
        <p:nvSpPr>
          <p:cNvPr id="21" name="Footer 21">
            <a:extLst>
              <a:ext uri="{FF2B5EF4-FFF2-40B4-BE49-F238E27FC236}">
                <a16:creationId xmlns:a16="http://schemas.microsoft.com/office/drawing/2014/main" id="{42E7A9DA-2A2A-727D-E57F-C87FFCA131E2}"/>
              </a:ext>
            </a:extLst>
          </p:cNvPr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20</a:t>
            </a:fld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105130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References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50258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[1]  K. S. Bhogale, S. Sundaresan, A. Raman, T. Javed, M. M. Khapra and P. Kumar, “Vistaar: Diverse Benchmarks and Training Sets for Indian Language ASR,” in Proc. INTERSPEECH, 2023.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[2]  “Whisper-Based Multilingual ASR for Indic Languages,” in Proc. Pattern Recognition and Machine Intelligence (PReMI), Springer LNCS, doi: 10.1007/978-3-032-18480-1_78.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[3]  “Hindi-Marathi Code-Switched Speech Recognition,” Preprints.org, manuscript 202503.2278, 2025.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[4]  D. Y.-B. Wang, Z. Shen, S. S. Mishra, Z. Xu, Y. Teng and H. Ding, “SLOT: Structuring the Output of Large Language Models,” arXiv:2505.04016, 2025.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[5]  F. Longo and A. Padovano, “Voice-enabled Assistants of the Operator 4.0 in the Social Smart Factory,” Manufacturing Letters, vol. 26, pp. 12-16, 2020.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[6]  T. M. Probst, “Organizational Safety Climate and Supervisor Safety Enforcement: Multilevel Explorations of the Causes of Accident Underreporting,” Journal of Applied Psychology, vol. 100, pp. 1899-1907, 2015, doi: 10.1037/a0039195.</a:t>
            </a:r>
            <a:endParaRPr lang="en-IN" sz="140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21</a:t>
            </a:fld>
            <a:endParaRPr lang="en-IN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9372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References (contd.)</a:t>
            </a:r>
            <a:endParaRPr lang="en-IN" sz="4000"/>
          </a:p>
        </p:txBody>
      </p:sp>
      <p:sp>
        <p:nvSpPr>
          <p:cNvPr id="19" name="TextBox 18"/>
          <p:cNvSpPr txBox="1"/>
          <p:nvPr/>
        </p:nvSpPr>
        <p:spPr>
          <a:xfrm>
            <a:off x="457200" y="1502580"/>
            <a:ext cx="8229600" cy="487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[7]  J. R. Detert and L. K. Treviño, “Speaking Up to Higher-Ups: How Supervisors and Skip-Level Leaders Influence Employee Voice,” Organization Science, vol. 21, no. 1, pp. 249-270, 2010, doi: 10.1287/orsc.1080.0405.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[8]  P. Mudliar, J. Donner and W. Thies, “Emergent Practices Around CGNet Swara, a Voice Forum for Citizen Journalism in Rural India,” in Proc. Int. Conf. on Information and Communication Technologies and Development (ICTD), ACM, 2012.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[9]  A. J.-P. Tixier, M. R. Hallowell, B. Rajagopalan and D. Bowman, “Automated Content Analysis for Construction Safety: A Natural Language Processing System to Extract Precursors and Outcomes from Unstructured Injury Reports,” Automation in Construction, vol. 62, pp. 45-56, 2016.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[10]  A. Radford, J. W. Kim, T. Xu, G. Brockman, C. McLeavey and I. Sutskever, “Robust Speech Recognition via Large-Scale Weak Supervision,” in Proc. ICML, 2023.</a:t>
            </a:r>
            <a:endParaRPr lang="en-IN" sz="1400"/>
          </a:p>
          <a:p>
            <a:pPr marL="514440" indent="-514440">
              <a:spcBef>
                <a:spcPts val="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[11]  Safe in India Foundation, “CRUSHED2026: Safe in India's 8th Annual Report on Worker Safety in the Indian Automotive Manufacturing Sector,” 2026. [Online]. Available: https://www.safeinindia.org/worker-safety-reports</a:t>
            </a:r>
            <a:endParaRPr lang="en-IN" sz="1400"/>
          </a:p>
        </p:txBody>
      </p:sp>
      <p:pic>
        <p:nvPicPr>
          <p:cNvPr id="23" name="Picture 7" descr="SIES GST logo"/>
          <p:cNvPicPr/>
          <p:nvPr/>
        </p:nvPicPr>
        <p:blipFill>
          <a:blip r:embed="rId2"/>
          <a:stretch/>
        </p:blipFill>
        <p:spPr>
          <a:xfrm>
            <a:off x="228600" y="0"/>
            <a:ext cx="114300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Footer 20"/>
          <p:cNvSpPr/>
          <p:nvPr/>
        </p:nvSpPr>
        <p:spPr>
          <a:xfrm>
            <a:off x="457200" y="6356520"/>
            <a:ext cx="2895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l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Vernacular Voice-to-SOP</a:t>
            </a:r>
            <a:endParaRPr lang="en-IN" sz="1200"/>
          </a:p>
        </p:txBody>
      </p:sp>
      <p:sp>
        <p:nvSpPr>
          <p:cNvPr id="21" name="Footer 21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59BC30-0621-4682-9088-AF3F4EE5F153}" type="slidenum">
              <a:rPr lang="en-US" sz="1200" b="0" i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22</a:t>
            </a:fld>
            <a:endParaRPr lang="en-I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3065</TotalTime>
  <Words>3959</Words>
  <Application>Microsoft Macintosh PowerPoint</Application>
  <PresentationFormat>On-screen Show (4:3)</PresentationFormat>
  <Paragraphs>364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</vt:lpstr>
      <vt:lpstr>Major Project Presentation Semester VII Internal Presentation Part - 1</vt:lpstr>
      <vt:lpstr>Introduction</vt:lpstr>
      <vt:lpstr>Literature Survey</vt:lpstr>
      <vt:lpstr>Literature Survey (contd.)</vt:lpstr>
      <vt:lpstr>Literature Survey (contd.)</vt:lpstr>
      <vt:lpstr>Literature Survey (contd.)</vt:lpstr>
      <vt:lpstr>Literature Survey (contd.)</vt:lpstr>
      <vt:lpstr>Existing System</vt:lpstr>
      <vt:lpstr>Proposed System</vt:lpstr>
      <vt:lpstr>Problem Definition</vt:lpstr>
      <vt:lpstr>Methodology</vt:lpstr>
      <vt:lpstr>Methodology (contd.)</vt:lpstr>
      <vt:lpstr>Methodology (contd.)</vt:lpstr>
      <vt:lpstr>System Architecture</vt:lpstr>
      <vt:lpstr>System Architecture (contd.)</vt:lpstr>
      <vt:lpstr>System Architecture (contd.)</vt:lpstr>
      <vt:lpstr>System Architecture (contd.)</vt:lpstr>
      <vt:lpstr>Applications</vt:lpstr>
      <vt:lpstr>Conclusion</vt:lpstr>
      <vt:lpstr>Future Work</vt:lpstr>
      <vt:lpstr>References</vt:lpstr>
      <vt:lpstr>References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Seminar Stage - 1</dc:title>
  <dc:subject/>
  <dc:creator>leena</dc:creator>
  <dc:description/>
  <cp:lastModifiedBy>Atharva Gadekar</cp:lastModifiedBy>
  <cp:revision>256</cp:revision>
  <dcterms:created xsi:type="dcterms:W3CDTF">2006-08-16T05:30:00Z</dcterms:created>
  <dcterms:modified xsi:type="dcterms:W3CDTF">2026-10-04T15:53:30Z</dcterms:modified>
  <dc:language>en-IN</dc:language>
</cp:coreProperties>
</file>